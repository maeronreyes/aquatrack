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449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0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88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82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73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3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4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50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8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818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65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05038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4589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93633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319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42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87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DA38F49-B3E2-4BF0-BEC7-C30D34ABBB8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095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5BDD1EA-D8C1-45AF-9F0A-14A2A137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C2062-D7D7-D4AE-58D3-B976D4EF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2710" y="628617"/>
            <a:ext cx="3971902" cy="3028983"/>
          </a:xfrm>
        </p:spPr>
        <p:txBody>
          <a:bodyPr>
            <a:normAutofit/>
          </a:bodyPr>
          <a:lstStyle/>
          <a:p>
            <a:r>
              <a:rPr lang="en-US" dirty="0"/>
              <a:t>Aqua Track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06F68-E5A9-56D1-DFF0-DDD3A1389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2709" y="3843868"/>
            <a:ext cx="2827315" cy="1564744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1" name="Snip Diagonal Corner Rectangle 6">
            <a:extLst>
              <a:ext uri="{FF2B5EF4-FFF2-40B4-BE49-F238E27FC236}">
                <a16:creationId xmlns:a16="http://schemas.microsoft.com/office/drawing/2014/main" id="{14354E08-0068-48D7-A8AD-84C7B1CF5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575496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11C60F-F562-2FA6-5372-07CF1894D6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7" r="1041" b="-1"/>
          <a:stretch>
            <a:fillRect/>
          </a:stretch>
        </p:blipFill>
        <p:spPr>
          <a:xfrm>
            <a:off x="799072" y="786117"/>
            <a:ext cx="6245352" cy="4956048"/>
          </a:xfrm>
          <a:custGeom>
            <a:avLst/>
            <a:gdLst/>
            <a:ahLst/>
            <a:cxnLst/>
            <a:rect l="l" t="t" r="r" b="b"/>
            <a:pathLst>
              <a:path w="6245352" h="4956048">
                <a:moveTo>
                  <a:pt x="534609" y="0"/>
                </a:moveTo>
                <a:lnTo>
                  <a:pt x="6245352" y="0"/>
                </a:lnTo>
                <a:lnTo>
                  <a:pt x="6245352" y="4421439"/>
                </a:lnTo>
                <a:lnTo>
                  <a:pt x="5710743" y="4956048"/>
                </a:lnTo>
                <a:lnTo>
                  <a:pt x="0" y="4956048"/>
                </a:lnTo>
                <a:lnTo>
                  <a:pt x="0" y="534609"/>
                </a:ln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779F34F-2960-4B81-BA08-445B6F6A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A57ACC-416F-4A5D-B7F7-DDA9886A3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522B4F-50C4-4FCE-8AE2-3789D63E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C3978FC-B5D1-42BE-B086-BC2A733D5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CED99F1-340D-4970-8E66-3B28E9271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0A54E39-63C0-4847-A766-C6B74FEB4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663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0411D-44F0-A60D-8E5C-08BBC1746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ED2ECA-C086-5E76-8F59-D0D40E38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8579" y="4487332"/>
            <a:ext cx="5627158" cy="1507067"/>
          </a:xfrm>
        </p:spPr>
        <p:txBody>
          <a:bodyPr>
            <a:normAutofit/>
          </a:bodyPr>
          <a:lstStyle/>
          <a:p>
            <a:r>
              <a:rPr lang="en-US"/>
              <a:t>scope</a:t>
            </a:r>
          </a:p>
        </p:txBody>
      </p:sp>
      <p:pic>
        <p:nvPicPr>
          <p:cNvPr id="14" name="Picture 13" descr="Technological background">
            <a:extLst>
              <a:ext uri="{FF2B5EF4-FFF2-40B4-BE49-F238E27FC236}">
                <a16:creationId xmlns:a16="http://schemas.microsoft.com/office/drawing/2014/main" id="{CD33C3B7-59EC-DBBA-F5FA-9BF8F42FB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89" r="40425" b="-1"/>
          <a:stretch>
            <a:fillRect/>
          </a:stretch>
        </p:blipFill>
        <p:spPr>
          <a:xfrm>
            <a:off x="831" y="10"/>
            <a:ext cx="3502025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20C8D50-EE55-20C3-46F2-7C1844278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4612" y="685800"/>
            <a:ext cx="6626072" cy="361526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/>
              <a:t>The </a:t>
            </a:r>
            <a:r>
              <a:rPr lang="en-US" sz="1900" b="1"/>
              <a:t>Aqua Track</a:t>
            </a:r>
            <a:r>
              <a:rPr lang="en-US" sz="1900"/>
              <a:t> system is designed to promote sustainable water use and conservation in alignment with </a:t>
            </a:r>
            <a:r>
              <a:rPr lang="en-US" sz="1900" b="1"/>
              <a:t>SDG 6 – Clean Water and Sanitation</a:t>
            </a:r>
            <a:r>
              <a:rPr lang="en-US" sz="1900"/>
              <a:t>. It provides individuals, households, businesses, and local governments with real-time insights into water consumption through IoT-enabled monitoring devices.</a:t>
            </a:r>
          </a:p>
          <a:p>
            <a:pPr>
              <a:lnSpc>
                <a:spcPct val="90000"/>
              </a:lnSpc>
            </a:pPr>
            <a:r>
              <a:rPr lang="en-US" sz="1900"/>
              <a:t>The system will:</a:t>
            </a:r>
          </a:p>
          <a:p>
            <a:pPr lvl="0">
              <a:lnSpc>
                <a:spcPct val="90000"/>
              </a:lnSpc>
            </a:pPr>
            <a:r>
              <a:rPr lang="en-US" sz="1900" b="1"/>
              <a:t>Monitor</a:t>
            </a:r>
            <a:r>
              <a:rPr lang="en-US" sz="1900"/>
              <a:t> water usage using smart water flow sensors installed at consumption points.</a:t>
            </a:r>
          </a:p>
          <a:p>
            <a:pPr lvl="0">
              <a:lnSpc>
                <a:spcPct val="90000"/>
              </a:lnSpc>
            </a:pPr>
            <a:r>
              <a:rPr lang="en-US" sz="1900" b="1"/>
              <a:t>Analyze</a:t>
            </a:r>
            <a:r>
              <a:rPr lang="en-US" sz="1900"/>
              <a:t> daily, weekly, and monthly consumption patterns to identify wastage and inefficiencies.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9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436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75C19-5836-0C68-0B5B-0557ABCA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C64E2-5ACE-CD73-7404-85388D74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Functional requirements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3A0763C-CAD3-8862-E2D2-472662A8C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553" y="685800"/>
            <a:ext cx="4754563" cy="5410200"/>
          </a:xfrm>
        </p:spPr>
        <p:txBody>
          <a:bodyPr>
            <a:normAutofit/>
          </a:bodyPr>
          <a:lstStyle/>
          <a:p>
            <a:pPr lvl="0"/>
            <a:r>
              <a:rPr lang="en-US" sz="1800" b="1">
                <a:solidFill>
                  <a:srgbClr val="FFFFFF"/>
                </a:solidFill>
              </a:rPr>
              <a:t>User Registration and Authentication Module</a:t>
            </a:r>
            <a:endParaRPr lang="en-US" sz="1800">
              <a:solidFill>
                <a:srgbClr val="FFFFFF"/>
              </a:solidFill>
            </a:endParaRPr>
          </a:p>
          <a:p>
            <a:pPr lvl="1"/>
            <a:r>
              <a:rPr lang="en-US">
                <a:solidFill>
                  <a:srgbClr val="FFFFFF"/>
                </a:solidFill>
              </a:rPr>
              <a:t>Secure sign-up and login (email/username + password, or SSO).0</a:t>
            </a:r>
          </a:p>
          <a:p>
            <a:pPr lvl="0"/>
            <a:r>
              <a:rPr lang="en-US" sz="1800" b="1">
                <a:solidFill>
                  <a:srgbClr val="FFFFFF"/>
                </a:solidFill>
              </a:rPr>
              <a:t>Usage Limit Module</a:t>
            </a:r>
            <a:endParaRPr lang="en-US" sz="1800">
              <a:solidFill>
                <a:srgbClr val="FFFFFF"/>
              </a:solidFill>
            </a:endParaRPr>
          </a:p>
          <a:p>
            <a:pPr lvl="1"/>
            <a:r>
              <a:rPr lang="en-US">
                <a:solidFill>
                  <a:srgbClr val="FFFFFF"/>
                </a:solidFill>
              </a:rPr>
              <a:t>Display live water consumption data from IoT sensors.	</a:t>
            </a:r>
          </a:p>
          <a:p>
            <a:pPr lvl="0"/>
            <a:r>
              <a:rPr lang="en-US" sz="1800" b="1">
                <a:solidFill>
                  <a:srgbClr val="FFFFFF"/>
                </a:solidFill>
              </a:rPr>
              <a:t>Water Consumption Module</a:t>
            </a:r>
            <a:endParaRPr lang="en-US" sz="1800">
              <a:solidFill>
                <a:srgbClr val="FFFFFF"/>
              </a:solidFill>
            </a:endParaRPr>
          </a:p>
          <a:p>
            <a:pPr lvl="1"/>
            <a:r>
              <a:rPr lang="en-US">
                <a:solidFill>
                  <a:srgbClr val="FFFFFF"/>
                </a:solidFill>
              </a:rPr>
              <a:t>Generate detailed usage analytics and trends.</a:t>
            </a:r>
          </a:p>
          <a:p>
            <a:pPr marL="0" indent="0">
              <a:buNone/>
            </a:pPr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645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041BC-5C13-559F-3D7B-1E74C9B1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8EF3E-5FE1-0B4D-63BE-0C541E62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Non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31957-12DA-1825-A2A4-0A0E58D89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553" y="685800"/>
            <a:ext cx="4754563" cy="5410200"/>
          </a:xfrm>
        </p:spPr>
        <p:txBody>
          <a:bodyPr>
            <a:normAutofit/>
          </a:bodyPr>
          <a:lstStyle/>
          <a:p>
            <a:pPr lvl="0"/>
            <a:r>
              <a:rPr lang="en-US" sz="1800" b="1">
                <a:solidFill>
                  <a:srgbClr val="FFFFFF"/>
                </a:solidFill>
              </a:rPr>
              <a:t>Performance</a:t>
            </a:r>
            <a:endParaRPr lang="en-US" sz="1800">
              <a:solidFill>
                <a:srgbClr val="FFFFFF"/>
              </a:solidFill>
            </a:endParaRPr>
          </a:p>
          <a:p>
            <a:pPr lvl="1"/>
            <a:r>
              <a:rPr lang="en-US">
                <a:solidFill>
                  <a:srgbClr val="FFFFFF"/>
                </a:solidFill>
              </a:rPr>
              <a:t>System must update water consumption data every 60 seconds.</a:t>
            </a:r>
          </a:p>
          <a:p>
            <a:pPr lvl="0"/>
            <a:r>
              <a:rPr lang="en-US" sz="1800" b="1">
                <a:solidFill>
                  <a:srgbClr val="FFFFFF"/>
                </a:solidFill>
              </a:rPr>
              <a:t>Security</a:t>
            </a:r>
            <a:endParaRPr lang="en-US" sz="1800">
              <a:solidFill>
                <a:srgbClr val="FFFFFF"/>
              </a:solidFill>
            </a:endParaRPr>
          </a:p>
          <a:p>
            <a:pPr lvl="1"/>
            <a:r>
              <a:rPr lang="en-US">
                <a:solidFill>
                  <a:srgbClr val="FFFFFF"/>
                </a:solidFill>
              </a:rPr>
              <a:t>End-to-end encryption for data transfer.</a:t>
            </a:r>
          </a:p>
          <a:p>
            <a:pPr marL="0" indent="0">
              <a:buNone/>
            </a:pPr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618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08CE2-A35B-AF24-9D52-1B2993B6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329F7-1040-9384-85A5-C8031636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DA847-83F2-566E-326D-4B93A041C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553" y="685800"/>
            <a:ext cx="4754563" cy="5410200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rgbClr val="FFFFFF"/>
                </a:solidFill>
              </a:rPr>
              <a:t>Frontend:</a:t>
            </a:r>
            <a:endParaRPr lang="en-US" sz="1800">
              <a:solidFill>
                <a:srgbClr val="FFFFFF"/>
              </a:solidFill>
            </a:endParaRPr>
          </a:p>
          <a:p>
            <a:pPr lvl="0"/>
            <a:r>
              <a:rPr lang="en-US" sz="1800">
                <a:solidFill>
                  <a:srgbClr val="FFFFFF"/>
                </a:solidFill>
              </a:rPr>
              <a:t>HTML5, CSS3, JavaScript (React or Vue.js)</a:t>
            </a:r>
          </a:p>
          <a:p>
            <a:pPr lvl="0"/>
            <a:r>
              <a:rPr lang="en-US" sz="1800">
                <a:solidFill>
                  <a:srgbClr val="FFFFFF"/>
                </a:solidFill>
              </a:rPr>
              <a:t>Bootstrap/Tailwind for responsive UI</a:t>
            </a:r>
          </a:p>
          <a:p>
            <a:r>
              <a:rPr lang="en-US" sz="1800" b="1">
                <a:solidFill>
                  <a:srgbClr val="FFFFFF"/>
                </a:solidFill>
              </a:rPr>
              <a:t>Backend:</a:t>
            </a:r>
          </a:p>
          <a:p>
            <a:pPr lvl="0"/>
            <a:r>
              <a:rPr lang="en-US" sz="1800">
                <a:solidFill>
                  <a:srgbClr val="FFFFFF"/>
                </a:solidFill>
              </a:rPr>
              <a:t>Laravel (PHP)</a:t>
            </a:r>
          </a:p>
          <a:p>
            <a:pPr lvl="0"/>
            <a:r>
              <a:rPr lang="en-US" sz="1800">
                <a:solidFill>
                  <a:srgbClr val="FFFFFF"/>
                </a:solidFill>
              </a:rPr>
              <a:t>MySQL / PostgreSQL for relational database</a:t>
            </a:r>
          </a:p>
          <a:p>
            <a:pPr marL="0" indent="0">
              <a:buNone/>
            </a:pPr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4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57F43-7B06-1018-1FEF-6AD74592B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04BFE-816C-0C64-AD61-069E2300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0AB0B-AB53-D4EB-85BE-954E434A0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553" y="685800"/>
            <a:ext cx="4754563" cy="5410200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rgbClr val="FFFFFF"/>
                </a:solidFill>
              </a:rPr>
              <a:t>Frontend:</a:t>
            </a:r>
            <a:endParaRPr lang="en-US" sz="1800">
              <a:solidFill>
                <a:srgbClr val="FFFFFF"/>
              </a:solidFill>
            </a:endParaRPr>
          </a:p>
          <a:p>
            <a:pPr lvl="0"/>
            <a:r>
              <a:rPr lang="en-US" sz="1800">
                <a:solidFill>
                  <a:srgbClr val="FFFFFF"/>
                </a:solidFill>
              </a:rPr>
              <a:t>HTML5, CSS3, JavaScript (React or Vue.js)</a:t>
            </a:r>
          </a:p>
          <a:p>
            <a:pPr lvl="0"/>
            <a:r>
              <a:rPr lang="en-US" sz="1800">
                <a:solidFill>
                  <a:srgbClr val="FFFFFF"/>
                </a:solidFill>
              </a:rPr>
              <a:t>Bootstrap/Tailwind for responsive UI</a:t>
            </a:r>
          </a:p>
          <a:p>
            <a:r>
              <a:rPr lang="en-US" sz="1800" b="1">
                <a:solidFill>
                  <a:srgbClr val="FFFFFF"/>
                </a:solidFill>
              </a:rPr>
              <a:t>Backend:</a:t>
            </a:r>
          </a:p>
          <a:p>
            <a:pPr lvl="0"/>
            <a:r>
              <a:rPr lang="en-US" sz="1800">
                <a:solidFill>
                  <a:srgbClr val="FFFFFF"/>
                </a:solidFill>
              </a:rPr>
              <a:t>Laravel (PHP)</a:t>
            </a:r>
          </a:p>
          <a:p>
            <a:pPr lvl="0"/>
            <a:r>
              <a:rPr lang="en-US" sz="1800">
                <a:solidFill>
                  <a:srgbClr val="FFFFFF"/>
                </a:solidFill>
              </a:rPr>
              <a:t>MySQL / PostgreSQL for relational database</a:t>
            </a:r>
          </a:p>
          <a:p>
            <a:pPr marL="0" indent="0">
              <a:buNone/>
            </a:pPr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748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AEAE0-EEE0-B76A-A7AB-BBC714796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5367F-E31C-1B11-41A8-E7BC432E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DF796-37D6-E5E7-6742-1F82029AE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553" y="685800"/>
            <a:ext cx="4754563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For Users:</a:t>
            </a:r>
            <a:endParaRPr lang="en-US" sz="1800">
              <a:solidFill>
                <a:srgbClr val="FFFFFF"/>
              </a:solidFill>
            </a:endParaRPr>
          </a:p>
          <a:p>
            <a:pPr lvl="0"/>
            <a:r>
              <a:rPr lang="en-US" sz="1800">
                <a:solidFill>
                  <a:srgbClr val="FFFFFF"/>
                </a:solidFill>
              </a:rPr>
              <a:t>Smartphone (Android 10+ / iOS 14+) or PC (Windows 10+, macOS)</a:t>
            </a:r>
          </a:p>
          <a:p>
            <a:pPr lvl="0"/>
            <a:r>
              <a:rPr lang="en-US" sz="1800">
                <a:solidFill>
                  <a:srgbClr val="FFFFFF"/>
                </a:solidFill>
              </a:rPr>
              <a:t>Internet connection (minimum 2 Mbps)</a:t>
            </a:r>
          </a:p>
          <a:p>
            <a:r>
              <a:rPr lang="en-US" sz="1800" b="1">
                <a:solidFill>
                  <a:srgbClr val="FFFFFF"/>
                </a:solidFill>
              </a:rPr>
              <a:t>For Server:</a:t>
            </a:r>
            <a:endParaRPr lang="en-US" sz="1800">
              <a:solidFill>
                <a:srgbClr val="FFFFFF"/>
              </a:solidFill>
            </a:endParaRPr>
          </a:p>
          <a:p>
            <a:pPr lvl="0"/>
            <a:r>
              <a:rPr lang="en-US" sz="1800">
                <a:solidFill>
                  <a:srgbClr val="FFFFFF"/>
                </a:solidFill>
              </a:rPr>
              <a:t>CPU: Quad-core 3.0 GHz or higher</a:t>
            </a:r>
          </a:p>
          <a:p>
            <a:pPr lvl="0"/>
            <a:r>
              <a:rPr lang="en-US" sz="1800">
                <a:solidFill>
                  <a:srgbClr val="FFFFFF"/>
                </a:solidFill>
              </a:rPr>
              <a:t>RAM: 16 GB</a:t>
            </a:r>
          </a:p>
          <a:p>
            <a:pPr lvl="0"/>
            <a:r>
              <a:rPr lang="en-US" sz="1800">
                <a:solidFill>
                  <a:srgbClr val="FFFFFF"/>
                </a:solidFill>
              </a:rPr>
              <a:t>Storage: 500 GB SSD</a:t>
            </a:r>
          </a:p>
          <a:p>
            <a:pPr lvl="0"/>
            <a:r>
              <a:rPr lang="en-US" sz="1800">
                <a:solidFill>
                  <a:srgbClr val="FFFFFF"/>
                </a:solidFill>
              </a:rPr>
              <a:t>Network: 1 Gbps connection</a:t>
            </a:r>
          </a:p>
          <a:p>
            <a:pPr marL="0" indent="0">
              <a:buNone/>
            </a:pPr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520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C4E06-0BCB-FD72-DD39-6A32C880A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991E317B-75E3-4171-A07A-B263C1D6D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591785-D872-F670-2710-2A178D9E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8617"/>
            <a:ext cx="3971902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Database schema</a:t>
            </a:r>
          </a:p>
        </p:txBody>
      </p:sp>
      <p:sp useBgFill="1">
        <p:nvSpPr>
          <p:cNvPr id="42" name="Snip Diagonal Corner Rectangle 6">
            <a:extLst>
              <a:ext uri="{FF2B5EF4-FFF2-40B4-BE49-F238E27FC236}">
                <a16:creationId xmlns:a16="http://schemas.microsoft.com/office/drawing/2014/main" id="{4A9B19C2-B29A-4924-9E7E-6FBF17F58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418778" cy="5286838"/>
          </a:xfrm>
          <a:prstGeom prst="snip2DiagRect">
            <a:avLst>
              <a:gd name="adj1" fmla="val 10973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AF1031-230D-EDB1-D440-52B59E106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9259" y="1097060"/>
            <a:ext cx="5334352" cy="4334162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34C85634-D5F5-4047-8F35-F4B1F50A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224BF71-948F-411D-AA79-8B2315715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34B4526-E715-4199-A597-CD757CB4A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5E295A6-48D5-4F9E-A32C-5D87EAA5E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10BF5B3-9260-4D36-BB24-07BC414B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E0C886-FA2E-4E7C-BC00-8397AAEC8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7624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50</TotalTime>
  <Words>270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Slice</vt:lpstr>
      <vt:lpstr>Aqua Track</vt:lpstr>
      <vt:lpstr>scope</vt:lpstr>
      <vt:lpstr>Functional requirements</vt:lpstr>
      <vt:lpstr>Non functional requirements</vt:lpstr>
      <vt:lpstr>SOFTWARE REQUIREMENTS</vt:lpstr>
      <vt:lpstr>SOFTWARE REQUIREMENTS</vt:lpstr>
      <vt:lpstr>HARDWARE REQUIREMENTS</vt:lpstr>
      <vt:lpstr>Database schema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Maeron Reyes</dc:creator>
  <cp:lastModifiedBy>Maeron Reyes</cp:lastModifiedBy>
  <cp:revision>20</cp:revision>
  <dcterms:created xsi:type="dcterms:W3CDTF">2025-09-02T03:28:17Z</dcterms:created>
  <dcterms:modified xsi:type="dcterms:W3CDTF">2025-09-02T04:18:23Z</dcterms:modified>
</cp:coreProperties>
</file>